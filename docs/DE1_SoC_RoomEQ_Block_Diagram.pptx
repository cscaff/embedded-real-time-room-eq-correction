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DE1-SoC Real-Time Room EQ Correction — System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94360"/>
            <a:ext cx="2011680" cy="10789920"/>
          </a:xfrm>
          <a:prstGeom prst="rect">
            <a:avLst/>
          </a:prstGeom>
          <a:solidFill>
            <a:srgbClr val="F5F5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EXTERNAL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594360"/>
            <a:ext cx="11887200" cy="10789920"/>
          </a:xfrm>
          <a:prstGeom prst="rect">
            <a:avLst/>
          </a:prstGeom>
          <a:solidFill>
            <a:srgbClr val="D6E4F7"/>
          </a:solidFill>
          <a:ln w="31750">
            <a:solidFill>
              <a:srgbClr val="1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94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F9F"/>
                </a:solidFill>
              </a:rPr>
              <a:t>FPGA FABRIC  (Cyclone V 5CSEMA5F31)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64640" y="594360"/>
            <a:ext cx="3840480" cy="10789920"/>
          </a:xfrm>
          <a:prstGeom prst="rect">
            <a:avLst/>
          </a:prstGeom>
          <a:solidFill>
            <a:srgbClr val="D4EDDA"/>
          </a:solidFill>
          <a:ln w="31750">
            <a:solidFill>
              <a:srgbClr val="197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10360" y="594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5A30"/>
                </a:solidFill>
              </a:rPr>
              <a:t>HPS  (ARM Cortex-A9 @ 800 MHz)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05840"/>
            <a:ext cx="1737360" cy="548640"/>
          </a:xfrm>
          <a:prstGeom prst="rect">
            <a:avLst/>
          </a:prstGeom>
          <a:solidFill>
            <a:srgbClr val="606060"/>
          </a:solidFill>
          <a:ln w="1524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Line-In Jack
(J2)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5727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555555"/>
                </a:solidFill>
              </a:rPr>
              <a:t>3.5mm TRS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920240"/>
            <a:ext cx="1737360" cy="548640"/>
          </a:xfrm>
          <a:prstGeom prst="rect">
            <a:avLst/>
          </a:prstGeom>
          <a:solidFill>
            <a:srgbClr val="AAAAAA"/>
          </a:solidFill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555555"/>
                </a:solidFill>
              </a:rPr>
              <a:t>Mic-In Jack
(J1) — unused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743200"/>
            <a:ext cx="1737360" cy="2011680"/>
          </a:xfrm>
          <a:prstGeom prst="rect">
            <a:avLst/>
          </a:prstGeom>
          <a:solidFill>
            <a:srgbClr val="FFF3CD"/>
          </a:solidFill>
          <a:ln w="1524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</a:rPr>
              <a:t>Wolfson
WM8731
Audio CODEC
(24-bit, 44.1 kHz)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5029200"/>
            <a:ext cx="1737360" cy="548640"/>
          </a:xfrm>
          <a:prstGeom prst="rect">
            <a:avLst/>
          </a:prstGeom>
          <a:solidFill>
            <a:srgbClr val="2E7D32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Line-Out Jack
(J3)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5596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555555"/>
                </a:solidFill>
              </a:rPr>
              <a:t>3.5mm TRS → Speakers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5806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03030"/>
                </a:solidFill>
              </a:rPr>
              <a:t>[ Speakers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8686800"/>
            <a:ext cx="1737360" cy="548640"/>
          </a:xfrm>
          <a:prstGeom prst="rect">
            <a:avLst/>
          </a:prstGeom>
          <a:solidFill>
            <a:srgbClr val="7B1FA2"/>
          </a:solidFill>
          <a:ln w="15240">
            <a:solidFill>
              <a:srgbClr val="4A1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50 MHz Clock
(Si5350C on board)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914400"/>
            <a:ext cx="1828800" cy="685800"/>
          </a:xfrm>
          <a:prstGeom prst="rect">
            <a:avLst/>
          </a:prstGeom>
          <a:solidFill>
            <a:srgbClr val="1F6FBF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① Audio PLL
(Intel PLL IP)
CLK_50→18.432 MHz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828800"/>
            <a:ext cx="1828800" cy="685800"/>
          </a:xfrm>
          <a:prstGeom prst="rect">
            <a:avLst/>
          </a:prstGeom>
          <a:solidFill>
            <a:srgbClr val="0D7C7C"/>
          </a:solidFill>
          <a:ln w="15240">
            <a:solidFill>
              <a:srgbClr val="0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② I2C Controller
(OpenCore I2C Master)
WM8731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34640"/>
            <a:ext cx="1828800" cy="1371600"/>
          </a:xfrm>
          <a:prstGeom prst="rect">
            <a:avLst/>
          </a:prstGeom>
          <a:solidFill>
            <a:srgbClr val="1F6FBF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③ I2S Audio
CODEC Interface
Deserialise ADC
Serialise DAC
(AUD_BCLK /
LRCLK /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1828800" cy="685800"/>
          </a:xfrm>
          <a:prstGeom prst="rect">
            <a:avLst/>
          </a:prstGeom>
          <a:solidFill>
            <a:srgbClr val="6A0DAC"/>
          </a:solidFill>
          <a:ln w="15240">
            <a:solidFill>
              <a:srgbClr val="4A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⑤ Input Sample FIFO
(Altera SCFIFO)
512×24-bit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840480"/>
            <a:ext cx="1828800" cy="548640"/>
          </a:xfrm>
          <a:prstGeom prst="rect">
            <a:avLst/>
          </a:prstGeom>
          <a:solidFill>
            <a:srgbClr val="A30D0D"/>
          </a:solidFill>
          <a:ln w="1524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Mode MUX
(EQ path ↔ CAL path)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846320"/>
            <a:ext cx="1828800" cy="685800"/>
          </a:xfrm>
          <a:prstGeom prst="rect">
            <a:avLst/>
          </a:prstGeom>
          <a:solidFill>
            <a:srgbClr val="C55A11"/>
          </a:solidFill>
          <a:ln w="15240">
            <a:solidFill>
              <a:srgbClr val="8B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⑫ ADC DMA FIFO
(CAL RX buffer)
512×24-bit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852160"/>
            <a:ext cx="1828800" cy="685800"/>
          </a:xfrm>
          <a:prstGeom prst="rect">
            <a:avLst/>
          </a:prstGeom>
          <a:solidFill>
            <a:srgbClr val="C55A11"/>
          </a:solidFill>
          <a:ln w="15240">
            <a:solidFill>
              <a:srgbClr val="8B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⑪ DAC DMA FIFO
(CAL TX buffer)
512×24-bit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834640"/>
            <a:ext cx="2011680" cy="1371600"/>
          </a:xfrm>
          <a:prstGeom prst="rect">
            <a:avLst/>
          </a:prstGeom>
          <a:solidFill>
            <a:srgbClr val="1F6FBF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⑥ FIR Filter Core
(Altera FIR II IP)
1024 taps, 24-bit
DSP block–packed
48-bit accumulator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572000"/>
            <a:ext cx="2011680" cy="777240"/>
          </a:xfrm>
          <a:prstGeom prst="rect">
            <a:avLst/>
          </a:prstGeom>
          <a:solidFill>
            <a:srgbClr val="6A0DAC"/>
          </a:solidFill>
          <a:ln w="15240">
            <a:solidFill>
              <a:srgbClr val="4A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⑦ Overlap-Add Buffer
(M10K On-Chip RAM)
1023×24-bit tail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5669280"/>
            <a:ext cx="2011680" cy="914400"/>
          </a:xfrm>
          <a:prstGeom prst="rect">
            <a:avLst/>
          </a:prstGeom>
          <a:solidFill>
            <a:srgbClr val="6A0DAC"/>
          </a:solidFill>
          <a:ln w="15240">
            <a:solidFill>
              <a:srgbClr val="4A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⑧ Coefficient RAM
(M10K Dual-Port)
1024×32-bit
Port A: HPS write
Port B: FIR 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834640"/>
            <a:ext cx="1828800" cy="685800"/>
          </a:xfrm>
          <a:prstGeom prst="rect">
            <a:avLst/>
          </a:prstGeom>
          <a:solidFill>
            <a:srgbClr val="6A0DAC"/>
          </a:solidFill>
          <a:ln w="15240">
            <a:solidFill>
              <a:srgbClr val="4A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⑨ Output Sample FIFO
(Altera SCFIFO)
512×24-bit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754880"/>
            <a:ext cx="1828800" cy="777240"/>
          </a:xfrm>
          <a:prstGeom prst="rect">
            <a:avLst/>
          </a:prstGeom>
          <a:solidFill>
            <a:srgbClr val="C55A11"/>
          </a:solidFill>
          <a:ln w="15240">
            <a:solidFill>
              <a:srgbClr val="8B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⑬a DMA Controller
(TX – sweep out)
DDR3→DAC DMA FIFO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5852160"/>
            <a:ext cx="1828800" cy="777240"/>
          </a:xfrm>
          <a:prstGeom prst="rect">
            <a:avLst/>
          </a:prstGeom>
          <a:solidFill>
            <a:srgbClr val="C55A11"/>
          </a:solidFill>
          <a:ln w="15240">
            <a:solidFill>
              <a:srgbClr val="8B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⑬b DMA Controller
(RX – room record)
ADC DMA FIFO→DDR3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338560" y="2834640"/>
            <a:ext cx="1828800" cy="914400"/>
          </a:xfrm>
          <a:prstGeom prst="rect">
            <a:avLst/>
          </a:prstGeom>
          <a:solidFill>
            <a:srgbClr val="A30D0D"/>
          </a:solidFill>
          <a:ln w="1524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⑩ Control/Status
Register Block
MODE, COEFF_LOADED
OVERFLOW, GAIN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38560" y="4114800"/>
            <a:ext cx="1828800" cy="777240"/>
          </a:xfrm>
          <a:prstGeom prst="rect">
            <a:avLst/>
          </a:prstGeom>
          <a:solidFill>
            <a:srgbClr val="0D7C7C"/>
          </a:solidFill>
          <a:ln w="15240">
            <a:solidFill>
              <a:srgbClr val="0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⑪ HPS→FPGA
Lightweight Bridge
(Avalon-MM 32-bit)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38560" y="5212080"/>
            <a:ext cx="1828800" cy="685800"/>
          </a:xfrm>
          <a:prstGeom prst="rect">
            <a:avLst/>
          </a:prstGeom>
          <a:solidFill>
            <a:srgbClr val="0D7C7C"/>
          </a:solidFill>
          <a:ln w="15240">
            <a:solidFill>
              <a:srgbClr val="0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FPGA→HPS Bridge
(Avalon-ST DMA
stream to HPS)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8412480"/>
            <a:ext cx="2286000" cy="685800"/>
          </a:xfrm>
          <a:prstGeom prst="rect">
            <a:avLst/>
          </a:prstGeom>
          <a:solidFill>
            <a:srgbClr val="6A0DAC"/>
          </a:solidFill>
          <a:ln w="15240">
            <a:solidFill>
              <a:srgbClr val="4A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64 MB SDRAM
(FPGA-side, optional scratch)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401800" y="914400"/>
            <a:ext cx="3474720" cy="3200400"/>
          </a:xfrm>
          <a:prstGeom prst="rect">
            <a:avLst/>
          </a:prstGeom>
          <a:solidFill>
            <a:srgbClr val="197640"/>
          </a:solidFill>
          <a:ln w="15240">
            <a:solidFill>
              <a:srgbClr val="0D4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⑫ HPS
(ARM Cortex-A9)
Calibration SW:
• Sweep generation
• sd.playrec() equiv.
  via DMA
• Room IR estimation
  (FFT deconvolution)
• FIR coeff derivation
  (regularised Wiener)
• Write coeffs to
  Coeff RAM via bridge
• Set MODE = EQ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401800" y="4389120"/>
            <a:ext cx="3474720" cy="1005840"/>
          </a:xfrm>
          <a:prstGeom prst="rect">
            <a:avLst/>
          </a:prstGeom>
          <a:solidFill>
            <a:srgbClr val="197640"/>
          </a:solidFill>
          <a:ln w="15240">
            <a:solidFill>
              <a:srgbClr val="0D4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DDR3 SDRAM (1 GB)
Sweep buf, Recording buf
FFT workspace, Coefficients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401800" y="5669280"/>
            <a:ext cx="3474720" cy="685800"/>
          </a:xfrm>
          <a:prstGeom prst="rect">
            <a:avLst/>
          </a:prstGeom>
          <a:solidFill>
            <a:srgbClr val="2E7D32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Linux (Angstrom / Yocto)
or Bare-Metal C app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20240" y="1280160"/>
            <a:ext cx="457200" cy="256032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20240" y="3383280"/>
            <a:ext cx="457200" cy="13716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6240" y="3154680"/>
            <a:ext cx="365760" cy="36576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0" y="3154680"/>
            <a:ext cx="365760" cy="36576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778240" y="3154680"/>
            <a:ext cx="365760" cy="36576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206240" y="3154680"/>
            <a:ext cx="4937760" cy="960120"/>
          </a:xfrm>
          <a:prstGeom prst="line">
            <a:avLst/>
          </a:prstGeom>
          <a:ln w="1905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920240" y="3566160"/>
            <a:ext cx="457200" cy="54864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920240" y="4297680"/>
            <a:ext cx="0" cy="731520"/>
          </a:xfrm>
          <a:prstGeom prst="line">
            <a:avLst/>
          </a:prstGeom>
          <a:ln w="2286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772400" y="4206240"/>
            <a:ext cx="0" cy="1463040"/>
          </a:xfrm>
          <a:prstGeom prst="line">
            <a:avLst/>
          </a:prstGeom>
          <a:ln w="1905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15200" y="4206240"/>
            <a:ext cx="0" cy="365760"/>
          </a:xfrm>
          <a:prstGeom prst="line">
            <a:avLst/>
          </a:prstGeom>
          <a:ln w="19050">
            <a:solidFill>
              <a:srgbClr val="1F6FB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3167360" y="3200400"/>
            <a:ext cx="1234440" cy="196596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572000" y="4389120"/>
            <a:ext cx="0" cy="178308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4206240" y="4114800"/>
            <a:ext cx="36576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06240" y="3291840"/>
            <a:ext cx="365760" cy="187452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400800" y="5166360"/>
            <a:ext cx="2743200" cy="100584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972800" y="3657600"/>
            <a:ext cx="3429000" cy="256032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6400800" y="5120640"/>
            <a:ext cx="2743200" cy="105156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3167360" y="2286000"/>
            <a:ext cx="1234440" cy="2194560"/>
          </a:xfrm>
          <a:prstGeom prst="line">
            <a:avLst/>
          </a:prstGeom>
          <a:ln w="19050">
            <a:solidFill>
              <a:srgbClr val="20202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8778240" y="4480560"/>
            <a:ext cx="2560320" cy="1645920"/>
          </a:xfrm>
          <a:prstGeom prst="line">
            <a:avLst/>
          </a:prstGeom>
          <a:ln w="19050">
            <a:solidFill>
              <a:srgbClr val="20202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38560" y="3749039"/>
            <a:ext cx="914400" cy="731521"/>
          </a:xfrm>
          <a:prstGeom prst="line">
            <a:avLst/>
          </a:prstGeom>
          <a:ln w="19050">
            <a:solidFill>
              <a:srgbClr val="20202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920240" y="1600200"/>
            <a:ext cx="1280160" cy="7360920"/>
          </a:xfrm>
          <a:prstGeom prst="line">
            <a:avLst/>
          </a:prstGeom>
          <a:ln w="19050">
            <a:solidFill>
              <a:srgbClr val="7B1FA2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291840" y="1600200"/>
            <a:ext cx="0" cy="1234440"/>
          </a:xfrm>
          <a:prstGeom prst="line">
            <a:avLst/>
          </a:prstGeom>
          <a:ln w="19050">
            <a:solidFill>
              <a:srgbClr val="7B1FA2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920240" y="2167128"/>
            <a:ext cx="457200" cy="576072"/>
          </a:xfrm>
          <a:prstGeom prst="line">
            <a:avLst/>
          </a:prstGeom>
          <a:ln w="19050">
            <a:solidFill>
              <a:srgbClr val="0D7C7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65960" y="3246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>
                <a:solidFill>
                  <a:srgbClr val="1F6FBF"/>
                </a:solidFill>
              </a:rPr>
              <a:t>I2S ADC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60" y="3886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>
                <a:solidFill>
                  <a:srgbClr val="1F6FBF"/>
                </a:solidFill>
              </a:rPr>
              <a:t>I2S DAC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2011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>
                <a:solidFill>
                  <a:srgbClr val="0D7C7C"/>
                </a:solidFill>
              </a:rPr>
              <a:t>I2C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>
                <a:solidFill>
                  <a:srgbClr val="7B1FA2"/>
                </a:solidFill>
              </a:rPr>
              <a:t>18.432 MHz
(AUD_XCK)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0" y="8732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>
                <a:solidFill>
                  <a:srgbClr val="7B1FA2"/>
                </a:solidFill>
              </a:rPr>
              <a:t>CLOCK_50
50 MHz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C55A11"/>
                </a:solidFill>
              </a:rPr>
              <a:t>← ADC samples (CAL mode, orange dashed)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0" y="5715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C55A11"/>
                </a:solidFill>
              </a:rPr>
              <a:t>← Sweep samples (CAL mode, orange dashed)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440" y="8961120"/>
            <a:ext cx="5029200" cy="1554480"/>
          </a:xfrm>
          <a:prstGeom prst="rect">
            <a:avLst/>
          </a:prstGeom>
          <a:solidFill>
            <a:srgbClr val="F0F0F0"/>
          </a:solidFill>
          <a:ln w="1524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23160" y="89794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</a:rPr>
              <a:t>LEGEND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9235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1F6FBF"/>
                </a:solidFill>
              </a:rPr>
              <a:t>──────  Real-time EQ audio path (blue arrows)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9464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C55A11"/>
                </a:solidFill>
              </a:rPr>
              <a:t>- - - -  Calibration DMA path (orange dashed arrows)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23160" y="96926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202020"/>
                </a:solidFill>
              </a:rPr>
              <a:t>──────  Control / config (dark arrows)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23160" y="9921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7B1FA2"/>
                </a:solidFill>
              </a:rPr>
              <a:t>──────  Clock distribution (purple arrows)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23160" y="10149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444444"/>
                </a:solidFill>
              </a:rPr>
              <a:t>Numbered boxes ① – ⑬ correspond to submodule list in design doc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8961120"/>
            <a:ext cx="5943600" cy="1554480"/>
          </a:xfrm>
          <a:prstGeom prst="rect">
            <a:avLst/>
          </a:prstGeom>
          <a:solidFill>
            <a:srgbClr val="FDF6E3"/>
          </a:solidFill>
          <a:ln w="15240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897940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</a:rPr>
              <a:t>OPERATING MODES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92354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553300"/>
                </a:solidFill>
              </a:rPr>
              <a:t>CAL MODE:  HPS streams sweep via DMA TX → WM8731 DAC → Speaker
           Room response → WM8731 ADC → DMA RX → HPS DDR3
           HPS computes room IR + FIR coefficients, writes to Coeff RAM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8120" y="98298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003366"/>
                </a:solidFill>
              </a:rPr>
              <a:t>EQ  MODE:  Line-In → WM8731 ADC → I2S → Input FIFO → FIR Core
           → Overlap-Add → Output FIFO → I2S → WM8731 DAC → Line-Out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